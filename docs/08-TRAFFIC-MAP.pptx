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Сегменты взяты из презентации команды, слайды 6–8. Чеки — по вводным: коридор 800–1 500 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Структура по образцу Traffic Map ресторана. Детализация стадий — на следующих слайдах.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Сроки писем привязаны ко времени сборки набора (3–40 часов работы = 3–8 недель календарно).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RELAXIC · TRAFFIC MAP · СЕНТЯБРЬ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мы и для кого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6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Relaxic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интернет-магазин наборов для творчества по вселенным кино, сериалов, игр, мультфильмов и аниме: картины по номерам, алмазные мозаики, вышивка крестиком. 150+ наборов, 800–1 500 ₽, доставка по РФ бесплатно от 5 000 ₽.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75104"/>
            <a:ext cx="3502152" cy="1700784"/>
          </a:xfrm>
          <a:prstGeom prst="roundRect">
            <a:avLst>
              <a:gd name="adj" fmla="val 5376"/>
            </a:avLst>
          </a:prstGeom>
          <a:solidFill>
            <a:srgbClr val="1E1917"/>
          </a:solidFill>
          <a:ln w="12700">
            <a:solidFill>
              <a:srgbClr val="2A23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828800"/>
            <a:ext cx="310896" cy="310896"/>
          </a:xfrm>
          <a:prstGeom prst="ellipse">
            <a:avLst/>
          </a:prstGeom>
          <a:solidFill>
            <a:srgbClr val="E848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1842516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Родители детей 7–12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70662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принимает мама, пользуется ребёнок.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 800–1 100 ₽. Ищет «чем занять ребёнка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гаджетов», а не набор для творчества.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70248" y="1975104"/>
            <a:ext cx="3502152" cy="1700784"/>
          </a:xfrm>
          <a:prstGeom prst="roundRect">
            <a:avLst>
              <a:gd name="adj" fmla="val 5376"/>
            </a:avLst>
          </a:prstGeom>
          <a:solidFill>
            <a:srgbClr val="1E1917"/>
          </a:solidFill>
          <a:ln w="12700">
            <a:solidFill>
              <a:srgbClr val="2A232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828800"/>
            <a:ext cx="310896" cy="310896"/>
          </a:xfrm>
          <a:prstGeom prst="ellipse">
            <a:avLst/>
          </a:prstGeom>
          <a:solidFill>
            <a:srgbClr val="9D86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1842516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Подростки и студенты 13–25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70662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Мобильный трафик из соцсетей, 90%+.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 900–1 300 ₽. Ищет антистресс, эстетику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повод показать результат.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91856" y="1975104"/>
            <a:ext cx="3502152" cy="1700784"/>
          </a:xfrm>
          <a:prstGeom prst="roundRect">
            <a:avLst>
              <a:gd name="adj" fmla="val 5376"/>
            </a:avLst>
          </a:prstGeom>
          <a:solidFill>
            <a:srgbClr val="1E1917"/>
          </a:solidFill>
          <a:ln w="12700">
            <a:solidFill>
              <a:srgbClr val="2A232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7888" y="1828800"/>
            <a:ext cx="310896" cy="310896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47888" y="1842516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Взрослые 26–45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47888" y="270662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Вечерний релакс после работы.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 1 300–1 500 ₽. Ищет качество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культовый кадр своей молодости.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11064240" cy="2340864"/>
          </a:xfrm>
          <a:prstGeom prst="roundRect">
            <a:avLst>
              <a:gd name="adj" fmla="val 3906"/>
            </a:avLst>
          </a:prstGeom>
          <a:solidFill>
            <a:srgbClr val="201A18"/>
          </a:solidFill>
          <a:ln w="15875">
            <a:solidFill>
              <a:srgbClr val="E848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9536" y="4151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ЗНАЧИТ, ЧТО ОНИ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59536" y="4480560"/>
            <a:ext cx="104424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6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приходят по названию франшизы, а не по слову «рукоделие» — реклама и SEO строятся вокруг брендов;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6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выбирают эмоцией (герой), а подтверждают рационально — сложность, часы сборки, комплектация;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6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покупают вечером с телефона: 70–80% трафика мобильный, чекаут должен влезать в один экран;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6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возвращаются через 3–8 недель — ровно столько собирается набор.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5760720"/>
            <a:ext cx="10442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84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вывод: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сборки набора и есть такт повторной продажи. Письмо «как идёт сборка?» на 7-й день и «покажите результат» на 21-й попадают в момент, когда человек ещё внутри процесса.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СВЕРХУ ВНИЗ — ИЕРАРХИЯ ВАЖНОСТИ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Map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 стадий: от первого касания до клиента, который возвращается сам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E1917"/>
          </a:solidFill>
          <a:ln w="12700">
            <a:solidFill>
              <a:srgbClr val="2A23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691640"/>
            <a:ext cx="310896" cy="310896"/>
          </a:xfrm>
          <a:prstGeom prst="ellipse">
            <a:avLst/>
          </a:prstGeom>
          <a:solidFill>
            <a:srgbClr val="E848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" y="1705356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934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ОХВАТ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0934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6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и VK Клипы · SEO по франшизам · блог · блогеры и гик-паблики · Pinterest · Яндекс Директ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219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E1917"/>
          </a:solidFill>
          <a:ln w="12700">
            <a:solidFill>
              <a:srgbClr val="2A232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2395728"/>
            <a:ext cx="310896" cy="310896"/>
          </a:xfrm>
          <a:prstGeom prst="ellipse">
            <a:avLst/>
          </a:prstGeom>
          <a:solidFill>
            <a:srgbClr val="E848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2409444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231343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ЗАХВАТ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31343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6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франшизы как посадочная · квиз в 3 шага · карточка товара · «сообщить о поступлении»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E1917"/>
          </a:solidFill>
          <a:ln w="12700">
            <a:solidFill>
              <a:srgbClr val="2A232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" y="3099816"/>
            <a:ext cx="310896" cy="310896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" y="3113532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30175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НАГРЕВ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017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6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 коробке · сложность и часы · отзывы с фото · галерея работ · видео сборки · срок доставки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63016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E1917"/>
          </a:solidFill>
          <a:ln w="12700">
            <a:solidFill>
              <a:srgbClr val="2A232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3803904"/>
            <a:ext cx="310896" cy="310896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8096" y="3817620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372160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СДЕЛКА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3721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6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Полоса до 5 000 ₽ · комплекты вселенной · чекаут в один экран · заказ падает в Telegram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33425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E1917"/>
          </a:solidFill>
          <a:ln w="12700">
            <a:solidFill>
              <a:srgbClr val="2A232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" y="4507992"/>
            <a:ext cx="310896" cy="310896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68096" y="4521708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207008" y="442569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ПОВТОРНАЯ СДЕЛКА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29000" y="4425696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6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Письма по такту сборки: день 7 · день 21 · день 35 · день 60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0383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E1917"/>
          </a:solidFill>
          <a:ln w="12700">
            <a:solidFill>
              <a:srgbClr val="2A232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8096" y="5212080"/>
            <a:ext cx="310896" cy="310896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68096" y="5225796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207008" y="512978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РЕКОМЕНДАЦИИ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429000" y="512978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6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Скидка 10% за фото работы · реферальный код · фото клиента уходит в галерею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574243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E1917"/>
          </a:solidFill>
          <a:ln w="12700">
            <a:solidFill>
              <a:srgbClr val="2A232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8096" y="5916168"/>
            <a:ext cx="310896" cy="310896"/>
          </a:xfrm>
          <a:prstGeom prst="ellipse">
            <a:avLst/>
          </a:prstGeom>
          <a:solidFill>
            <a:srgbClr val="9D86D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68096" y="5929884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207008" y="583387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86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ЛОЯЛЬНОСТЬ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3429000" y="58338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6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Ранний доступ к новинкам · подарок к третьему заказу · клуб любимой вселенной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СТАДИИ 1–2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Охват и Захват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9496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33856"/>
            <a:ext cx="310896" cy="310896"/>
          </a:xfrm>
          <a:prstGeom prst="ellipse">
            <a:avLst/>
          </a:prstGeom>
          <a:solidFill>
            <a:srgbClr val="E848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147572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1521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Охват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15910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приводит людей. Дороже всего и шире всего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77824" y="2020824"/>
            <a:ext cx="100584" cy="100584"/>
          </a:xfrm>
          <a:prstGeom prst="ellipse">
            <a:avLst/>
          </a:prstGeom>
          <a:solidFill>
            <a:srgbClr val="E848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15568" y="195681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TikTok, VK Клипы, Reels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18541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Таймлапсы сборки. Главный канал для 13–25. Ссылка ведёт на страницу франшизы, не на главную.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7824" y="2734056"/>
            <a:ext cx="100584" cy="100584"/>
          </a:xfrm>
          <a:prstGeom prst="ellipse">
            <a:avLst/>
          </a:prstGeom>
          <a:solidFill>
            <a:srgbClr val="E848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15568" y="26700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по франшизам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8986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«алмазная мозаика гарри поттер» — высокочастотка. Органика здесь дешевле Директа в разы.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824" y="3447288"/>
            <a:ext cx="100584" cy="100584"/>
          </a:xfrm>
          <a:prstGeom prst="ellipse">
            <a:avLst/>
          </a:prstGeom>
          <a:solidFill>
            <a:srgbClr val="E848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15568" y="33832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Блог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61188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«Чем занять ребёнка 7 лет», «как снять стресс без телефона». Ловит человека на стадии проблемы.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7824" y="4160520"/>
            <a:ext cx="100584" cy="100584"/>
          </a:xfrm>
          <a:prstGeom prst="ellipse">
            <a:avLst/>
          </a:prstGeom>
          <a:solidFill>
            <a:srgbClr val="E848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15568" y="40965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Блогеры и гик-паблики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432511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Обзоры, распаковки, совместные розыгрыши по конкретной вселенной.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7824" y="4873752"/>
            <a:ext cx="100584" cy="100584"/>
          </a:xfrm>
          <a:prstGeom prst="ellipse">
            <a:avLst/>
          </a:prstGeom>
          <a:solidFill>
            <a:srgbClr val="E848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15568" y="48097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 и поиск по картинкам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503834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работы в интерьере. Долгоиграющий бесплатный трафик.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7824" y="5586984"/>
            <a:ext cx="100584" cy="100584"/>
          </a:xfrm>
          <a:prstGeom prst="ellipse">
            <a:avLst/>
          </a:prstGeom>
          <a:solidFill>
            <a:srgbClr val="E848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15568" y="55229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Яндекс Директ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" y="575157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Осторожно: объявления с чужими товарными знаками режет модерация. Вести на общие запросы.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1280160"/>
            <a:ext cx="539496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1133856"/>
            <a:ext cx="310896" cy="310896"/>
          </a:xfrm>
          <a:prstGeom prst="ellipse">
            <a:avLst/>
          </a:prstGeom>
          <a:solidFill>
            <a:srgbClr val="7956D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37960" y="1147572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976872" y="11521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Захват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574536" y="15910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превращает случайный визит в интерес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92824" y="2020824"/>
            <a:ext cx="100584" cy="100584"/>
          </a:xfrm>
          <a:prstGeom prst="ellipse">
            <a:avLst/>
          </a:prstGeom>
          <a:solidFill>
            <a:srgbClr val="7956D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30568" y="195681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франшизы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830568" y="218541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Посадочная для всей рекламы и соцсетей. Обязана грузиться быстрее 2,5 с на 4G.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92824" y="2734056"/>
            <a:ext cx="100584" cy="100584"/>
          </a:xfrm>
          <a:prstGeom prst="ellipse">
            <a:avLst/>
          </a:prstGeom>
          <a:solidFill>
            <a:srgbClr val="7956D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830568" y="26700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Квиз в 3 шага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830568" y="28986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Техника → вселенная → сколько времени. Для тех, кто пришёл без готового решения.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92824" y="3447288"/>
            <a:ext cx="100584" cy="100584"/>
          </a:xfrm>
          <a:prstGeom prst="ellipse">
            <a:avLst/>
          </a:prstGeom>
          <a:solidFill>
            <a:srgbClr val="7956D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830568" y="33832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товара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30568" y="361188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Самодостаточна как точка входа из поиска: навигация, доверие и кросс-ссылки прямо на ней.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92824" y="4160520"/>
            <a:ext cx="100584" cy="100584"/>
          </a:xfrm>
          <a:prstGeom prst="ellipse">
            <a:avLst/>
          </a:prstGeom>
          <a:solidFill>
            <a:srgbClr val="7956D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830568" y="40965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«Сообщить о поступлении»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830568" y="432511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Собирает контакт там, где иначе была бы потеря — когда набора нет в наличии.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92824" y="4873752"/>
            <a:ext cx="100584" cy="100584"/>
          </a:xfrm>
          <a:prstGeom prst="ellipse">
            <a:avLst/>
          </a:prstGeom>
          <a:solidFill>
            <a:srgbClr val="7956D0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830568" y="48097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на блог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6830568" y="503834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Мягкий захват для тех, кто ещё не готов покупать. Без всплывающих окон.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СТАДИИ 3–4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Нагрев и Сделка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9496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33856"/>
            <a:ext cx="310896" cy="310896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147572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1521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Нагрев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15910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снимает сомнения перед кнопкой «в корзину»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77824" y="2020824"/>
            <a:ext cx="100584" cy="100584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15568" y="195681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 коробке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18541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каждого компонента. Закрывает «а что ещё придётся докупать».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7824" y="2734056"/>
            <a:ext cx="100584" cy="100584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15568" y="26700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Сложность 1–5 и часы сборки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8986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числа, три разных ответа: маме «не сложно», Дмитрию «много деталей», Алисе «на вечер».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824" y="3447288"/>
            <a:ext cx="100584" cy="100584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15568" y="33832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с фотографиями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61188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драйвер доверия. На старте — сгенерированы, помечены в базе и заменяются реальными.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7824" y="4160520"/>
            <a:ext cx="100584" cy="100584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15568" y="40965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Галерея работ клиентов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432511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Такого нет ни у одного из трёх конкурентов. Работает и как доказательство, и как витрина.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7824" y="4873752"/>
            <a:ext cx="100584" cy="100584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15568" y="48097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сборки и распаковки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503834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блоге и в карточке. Показывает процесс честнее любого текста.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7824" y="5586984"/>
            <a:ext cx="100584" cy="100584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15568" y="55229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доставки до корзины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" y="575157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Показан прямо в карточке, а не открывается сюрпризом на чекауте.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1280160"/>
            <a:ext cx="539496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1133856"/>
            <a:ext cx="310896" cy="310896"/>
          </a:xfrm>
          <a:prstGeom prst="ellipse">
            <a:avLst/>
          </a:prstGeom>
          <a:solidFill>
            <a:srgbClr val="E8482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37960" y="1147572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976872" y="11521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Сделка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574536" y="15910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чек 1 100 ₽, порог бесплатной доставки 5 000 ₽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92824" y="2020824"/>
            <a:ext cx="100584" cy="100584"/>
          </a:xfrm>
          <a:prstGeom prst="ellipse">
            <a:avLst/>
          </a:prstGeom>
          <a:solidFill>
            <a:srgbClr val="E8482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30568" y="195681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Полоса «ещё 900 ₽ до бесплатной»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830568" y="218541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Рядом — подборка наборов ровно на недостающую сумму. Без этого порог только отпугивает.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92824" y="2734056"/>
            <a:ext cx="100584" cy="100584"/>
          </a:xfrm>
          <a:prstGeom prst="ellipse">
            <a:avLst/>
          </a:prstGeom>
          <a:solidFill>
            <a:srgbClr val="E8482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830568" y="26700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Комплекты вселенной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830568" y="28986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набора пакетом дешевле суммы позиций. Повод взять больше вместо скидки на один.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92824" y="3447288"/>
            <a:ext cx="100584" cy="100584"/>
          </a:xfrm>
          <a:prstGeom prst="ellipse">
            <a:avLst/>
          </a:prstGeom>
          <a:solidFill>
            <a:srgbClr val="E8482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830568" y="33832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Мини-формат от 800 ₽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30568" y="361188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и как добор до порога, и как безопасная точка входа для сомневающихся.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92824" y="4160520"/>
            <a:ext cx="100584" cy="100584"/>
          </a:xfrm>
          <a:prstGeom prst="ellipse">
            <a:avLst/>
          </a:prstGeom>
          <a:solidFill>
            <a:srgbClr val="E8482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830568" y="40965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Чекаут в один экран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830568" y="432511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обязательной регистрации. Согласие на обработку данных — отдельным чекбоксом.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92824" y="4873752"/>
            <a:ext cx="100584" cy="100584"/>
          </a:xfrm>
          <a:prstGeom prst="ellipse">
            <a:avLst/>
          </a:prstGeom>
          <a:solidFill>
            <a:srgbClr val="E8482B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830568" y="48097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 падает в Telegram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6830568" y="503834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Мгновенно, в чат команды. Если Telegram недоступен, заказ всё равно сохраняется в базе.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592824" y="5586984"/>
            <a:ext cx="100584" cy="100584"/>
          </a:xfrm>
          <a:prstGeom prst="ellipse">
            <a:avLst/>
          </a:prstGeom>
          <a:solidFill>
            <a:srgbClr val="E8482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830568" y="55229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по корзине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6830568" y="575157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заказов с 2+ позициями — от 35%. Иначе экономика бесплатной доставки не сходится.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СТАДИИ 5–7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покупки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Такт задаёт сам продукт: набор собирается 3–8 недель, и все касания привязаны к этому сроку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3502152" cy="4443984"/>
          </a:xfrm>
          <a:prstGeom prst="roundRect">
            <a:avLst>
              <a:gd name="adj" fmla="val 2611"/>
            </a:avLst>
          </a:prstGeom>
          <a:solidFill>
            <a:srgbClr val="1E1917"/>
          </a:solidFill>
          <a:ln w="12700">
            <a:solidFill>
              <a:srgbClr val="2A23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554480"/>
            <a:ext cx="310896" cy="310896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1568196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Повторная сделка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031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7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317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«Как идёт сборка?» и статья-лайфхак по технике. Человек ещё внутри процесса.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272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21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35584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«Покажите результат» и скидка 10% за фото готовой работы.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15137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35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7997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Новинки вашей вселенной. Набор уже собран, стена освободилась.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1755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60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40410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Ближайший праздник и подарочная подборка.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70248" y="1700784"/>
            <a:ext cx="3502152" cy="4443984"/>
          </a:xfrm>
          <a:prstGeom prst="roundRect">
            <a:avLst>
              <a:gd name="adj" fmla="val 2611"/>
            </a:avLst>
          </a:prstGeom>
          <a:solidFill>
            <a:srgbClr val="1E1917"/>
          </a:solidFill>
          <a:ln w="12700">
            <a:solidFill>
              <a:srgbClr val="2A232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6280" y="1554480"/>
            <a:ext cx="310896" cy="310896"/>
          </a:xfrm>
          <a:prstGeom prst="ellipse">
            <a:avLst/>
          </a:prstGeom>
          <a:solidFill>
            <a:srgbClr val="9D86D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26280" y="1568196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928616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Рекомендации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44568" y="21031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8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Скидка за фото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44568" y="23317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на следующий заказ. Фото автоматически уходит в галерею работ.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44568" y="31272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8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Реферальный код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44568" y="335584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Другу 10%, вам 10%. Считается в личном кабинете.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44568" y="415137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8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Галерея как витрина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44568" y="437997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Работы клиентов одновременно доказательство и бесплатный контент.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44568" y="51755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8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 из соцсетей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44568" y="540410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Репост отмеченных публикаций с согласия автора.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91856" y="1700784"/>
            <a:ext cx="3502152" cy="4443984"/>
          </a:xfrm>
          <a:prstGeom prst="roundRect">
            <a:avLst>
              <a:gd name="adj" fmla="val 2611"/>
            </a:avLst>
          </a:prstGeom>
          <a:solidFill>
            <a:srgbClr val="1E1917"/>
          </a:solidFill>
          <a:ln w="12700">
            <a:solidFill>
              <a:srgbClr val="2A232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47888" y="1554480"/>
            <a:ext cx="310896" cy="310896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47888" y="1568196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650224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Лояльность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66176" y="21031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Ранний доступ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266176" y="23317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Новинки любимой вселенной — за сутки до общего старта.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266176" y="31272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Подарок к 3-му заказу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266176" y="335584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Мини-набор в посылке, без объявления заранее.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66176" y="415137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Клуб вселенной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266176" y="437997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на новинки конкретной франшизы вместо общей рассылки.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266176" y="51755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266176" y="540410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Собравший два набора одной вселенной берёт третий без стимулов.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2910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4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меряем: </a:t>
            </a:r>
            <a:pPr indent="0" marL="0">
              <a:buNone/>
            </a:pPr>
            <a:r>
              <a:rPr lang="en-US" sz="11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конверсия в заказ 1,5% → 3% · средний чек 1 100 ₽ → 2 200 ₽ · доля заказов с 2+ позициями от 35% · повторная покупка в течение 90 дней — от 20%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Relaxic — Traffic Map</dc:title>
  <dc:subject>PptxGenJS Presentation</dc:subject>
  <dc:creator>Relaxic</dc:creator>
  <cp:lastModifiedBy>Relaxic</cp:lastModifiedBy>
  <cp:revision>1</cp:revision>
  <dcterms:created xsi:type="dcterms:W3CDTF">2026-09-22T10:53:57Z</dcterms:created>
  <dcterms:modified xsi:type="dcterms:W3CDTF">2026-09-22T10:53:57Z</dcterms:modified>
</cp:coreProperties>
</file>